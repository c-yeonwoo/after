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732a402a0c41fe" /><Relationship Type="http://schemas.openxmlformats.org/officeDocument/2006/relationships/extended-properties" Target="/docProps/app.xml" Id="R5d4b0af91ad54be4" /><Relationship Type="http://schemas.openxmlformats.org/officeDocument/2006/relationships/officeDocument" Target="/ppt/presentation.xml" Id="R360725b32cce45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f8fc95e03d4d28"/>
  </p:sldMasterIdLst>
  <p:notesMasterIdLst>
    <p:notesMasterId xmlns:r="http://schemas.openxmlformats.org/officeDocument/2006/relationships" r:id="R39d31f6b5ef94d24"/>
  </p:notesMasterIdLst>
  <p:sldIdLst>
    <p:sldId xmlns:r="http://schemas.openxmlformats.org/officeDocument/2006/relationships" id="256" r:id="Rf81480e2e1e447ff"/>
    <p:sldId xmlns:r="http://schemas.openxmlformats.org/officeDocument/2006/relationships" id="257" r:id="R626620feeda04cf6"/>
    <p:sldId xmlns:r="http://schemas.openxmlformats.org/officeDocument/2006/relationships" id="258" r:id="R780f9df1616a4e5f"/>
    <p:sldId xmlns:r="http://schemas.openxmlformats.org/officeDocument/2006/relationships" id="259" r:id="R344cbdf35fbb458b"/>
    <p:sldId xmlns:r="http://schemas.openxmlformats.org/officeDocument/2006/relationships" id="260" r:id="Rbe445bde78964d27"/>
    <p:sldId xmlns:r="http://schemas.openxmlformats.org/officeDocument/2006/relationships" id="261" r:id="Rc0aafe3642a143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6d2c0de8e34854" /><Relationship Type="http://schemas.openxmlformats.org/officeDocument/2006/relationships/slideMaster" Target="/ppt/slideMasters/slideMaster1.xml" Id="Re9f8fc95e03d4d28" /><Relationship Type="http://schemas.openxmlformats.org/officeDocument/2006/relationships/notesMaster" Target="/ppt/notesMasters/notesMaster1.xml" Id="R39d31f6b5ef94d24" /><Relationship Type="http://schemas.openxmlformats.org/officeDocument/2006/relationships/presProps" Target="/ppt/presProps.xml" Id="R77b4a29e0d2c41cf" /><Relationship Type="http://schemas.openxmlformats.org/officeDocument/2006/relationships/tableStyles" Target="/ppt/tableStyles.xml" Id="R11dfedf969944787" /><Relationship Type="http://schemas.openxmlformats.org/officeDocument/2006/relationships/slide" Target="/ppt/slides/slide1.xml" Id="Rf81480e2e1e447ff" /><Relationship Type="http://schemas.openxmlformats.org/officeDocument/2006/relationships/slide" Target="/ppt/slides/slide2.xml" Id="R626620feeda04cf6" /><Relationship Type="http://schemas.openxmlformats.org/officeDocument/2006/relationships/slide" Target="/ppt/slides/slide3.xml" Id="R780f9df1616a4e5f" /><Relationship Type="http://schemas.openxmlformats.org/officeDocument/2006/relationships/slide" Target="/ppt/slides/slide4.xml" Id="R344cbdf35fbb458b" /><Relationship Type="http://schemas.openxmlformats.org/officeDocument/2006/relationships/slide" Target="/ppt/slides/slide5.xml" Id="Rbe445bde78964d27" /><Relationship Type="http://schemas.openxmlformats.org/officeDocument/2006/relationships/slide" Target="/ppt/slides/slide6.xml" Id="Rc0aafe3642a143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129896aa4d4e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e30f6545ee413d" /><Relationship Type="http://schemas.openxmlformats.org/officeDocument/2006/relationships/notesMaster" Target="/ppt/notesMasters/notesMaster1.xml" Id="R8246659f62354b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e19b1bbd684af6" /><Relationship Type="http://schemas.openxmlformats.org/officeDocument/2006/relationships/notesMaster" Target="/ppt/notesMasters/notesMaster1.xml" Id="Rc4e40c5e05e94f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ad1cf0f5764486" /><Relationship Type="http://schemas.openxmlformats.org/officeDocument/2006/relationships/notesMaster" Target="/ppt/notesMasters/notesMaster1.xml" Id="Rf5d675e1efbf40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e1ed558ca3451d" /><Relationship Type="http://schemas.openxmlformats.org/officeDocument/2006/relationships/notesMaster" Target="/ppt/notesMasters/notesMaster1.xml" Id="Rdcc11c549b2c45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3a9794cb5e4d39" /><Relationship Type="http://schemas.openxmlformats.org/officeDocument/2006/relationships/notesMaster" Target="/ppt/notesMasters/notesMaster1.xml" Id="R44a72a7490bb46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d85df947d64103" /><Relationship Type="http://schemas.openxmlformats.org/officeDocument/2006/relationships/notesMaster" Target="/ppt/notesMasters/notesMaster1.xml" Id="Rbd69f29fef424e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docs/toss-payments-merchant-application.md. 운영 사이트 https://aftersunset.kr. 본 자료는 사전 문의용 설명이며, 실제 결제 화면 캡처가 필요한 정식 카드사 심사용 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 Supabase에서 2026-10-09에 review-male@eclps.kr의 비밀번호 로그인을 확인했습니다. public.profiles.role=member, account_state=active, onboarding_step=7이며 home_state 응답에서 queued_intros=1, intro_tickets=1, meeting_tickets=1을 확인했습니다. 비밀번호는 저장소에 넣지 않습니다. 출처: docs/toss-payments-merchant-application.md, scripts/review-seed.mjs.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운영 UI와 정책을 설명합니다. store.tsx는 paymentsEnabled()가 false이면 무료 신청과 운영자 지급 안내를 표시합니다. 운영 Supabase에서도 payments_enabled=false를 확인했습니다. 출처: src/routes/store.tsx, src/lib/policy.ts, supabase/migrations/20260814130000_s27_beta_issuance.sql, https://aftersunset.kr/store?kind=meeting.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예정 흐름은 구현 결과가 아닌 제품 계획입니다. confirm-ticket-payment Edge Function은 서버에서 주문 금액을 검증하고 Toss confirm을 호출하는 코드가 있으나, 사용자용 위젯·성공/실패 화면은 미구현입니다. 출처: supabase/functions/confirm-ticket-payment/index.ts, docs/s1-server-authority.md, docs/toss-payments-merchant-application.md.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정책 중 미사용 티켓은 현재 코드/UI상 만료되지 않는 것으로 안내되어 있고, 유료 서비스 제공기간을 한정하지 못합니다. 환불 정책은 무료 베타 약관만 존재합니다. 정식 입점 전 대표자가 서비스 제공기간과 환불 정책을 결정하고 화면·서버·약관을 함께 반영해야 합니다. 출처: docs/toss-payments-merchant-application.md, src/routes/store.tsx, src/lib/policy.ts.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자료는 사전 문의용입니다. Toss 안내 메일은 실제 판매 상품, 공개 환불정책, 결제 화면, 결제 경로 PPT를 요구합니다. 현 운영 상태로 정식 제출하면 결제 경로가 없는 점을 숨기게 되므로, 결제창 구현과 sandbox 검증을 완료한 뒤 새 화면 캡처로 교체합니다. 출처: docs/toss-payments-merchant-application.md.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8f0d5ceb441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b10740fdd42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2faba75274f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0010dc9424f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8e6e57cab46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01688e53d49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ADD2B7-7481-4392-AA1F-45C8DCC1D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DEEFE5-1929-480C-A202-351329E9F5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EAC5FA-38B5-4AF9-B709-7A2055581B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DD82EE-0154-4558-9B31-40049D7BBB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379764-6E72-4751-AB01-21EA47757E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BCA3B0-3B64-44FD-852D-EFAAE90A7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831C10-D458-4349-B216-AFD33D18BB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27FA32-8C27-4DB9-8E14-6986A92E20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9EF9-7212-4933-BB37-4370D8F93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A436FD-8E66-43D5-8EE0-B76745BC9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c5d84378894349" /><Relationship Type="http://schemas.openxmlformats.org/officeDocument/2006/relationships/slideLayout" Target="/ppt/slideLayouts/slideLayout1.xml" Id="R419adaad1d6e451f" /><Relationship Type="http://schemas.openxmlformats.org/officeDocument/2006/relationships/slideLayout" Target="/ppt/slideLayouts/slideLayout2.xml" Id="R38b8c33ffea64512" /><Relationship Type="http://schemas.openxmlformats.org/officeDocument/2006/relationships/slideLayout" Target="/ppt/slideLayouts/slideLayout3.xml" Id="R4ad446b848264b4f" /><Relationship Type="http://schemas.openxmlformats.org/officeDocument/2006/relationships/slideLayout" Target="/ppt/slideLayouts/slideLayout4.xml" Id="Red71ecebb53f4869" /><Relationship Type="http://schemas.openxmlformats.org/officeDocument/2006/relationships/slideLayout" Target="/ppt/slideLayouts/slideLayout5.xml" Id="R9a32d7ae9dba4a48" /><Relationship Type="http://schemas.openxmlformats.org/officeDocument/2006/relationships/slideLayout" Target="/ppt/slideLayouts/slideLayout6.xml" Id="R1c1422a1310a42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9adaad1d6e451f"/>
    <p:sldLayoutId xmlns:r="http://schemas.openxmlformats.org/officeDocument/2006/relationships" id="2147483650" r:id="R38b8c33ffea64512"/>
    <p:sldLayoutId xmlns:r="http://schemas.openxmlformats.org/officeDocument/2006/relationships" id="2147483651" r:id="R4ad446b848264b4f"/>
    <p:sldLayoutId xmlns:r="http://schemas.openxmlformats.org/officeDocument/2006/relationships" id="2147483652" r:id="Red71ecebb53f4869"/>
    <p:sldLayoutId xmlns:r="http://schemas.openxmlformats.org/officeDocument/2006/relationships" id="2147483653" r:id="R9a32d7ae9dba4a48"/>
    <p:sldLayoutId xmlns:r="http://schemas.openxmlformats.org/officeDocument/2006/relationships" id="2147483654" r:id="R1c1422a1310a42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4d22787fe44708" /><Relationship Type="http://schemas.openxmlformats.org/officeDocument/2006/relationships/notesSlide" Target="/ppt/notesSlides/notesSlide1.xml" Id="R8c446b15526440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0b421142e472c" /><Relationship Type="http://schemas.openxmlformats.org/officeDocument/2006/relationships/notesSlide" Target="/ppt/notesSlides/notesSlide2.xml" Id="R273b557f34fd4a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e5a16be5d48b1" /><Relationship Type="http://schemas.openxmlformats.org/officeDocument/2006/relationships/notesSlide" Target="/ppt/notesSlides/notesSlide3.xml" Id="R608d753ff0164e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b56c405e04987" /><Relationship Type="http://schemas.openxmlformats.org/officeDocument/2006/relationships/notesSlide" Target="/ppt/notesSlides/notesSlide4.xml" Id="Rfceee9eb63b048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c7ca45d45472f" /><Relationship Type="http://schemas.openxmlformats.org/officeDocument/2006/relationships/notesSlide" Target="/ppt/notesSlides/notesSlide5.xml" Id="R74a9ce60ad674a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3bc872aa8e4c10" /><Relationship Type="http://schemas.openxmlformats.org/officeDocument/2006/relationships/notesSlide" Target="/ppt/notesSlides/notesSlide6.xml" Id="R3d19cb66d5b54c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brand-rule">
            <a:extLst xmlns:a="http://schemas.openxmlformats.org/drawingml/2006/main">
              <a:ext uri="{FF2B5EF4-FFF2-40B4-BE49-F238E27FC236}">
                <a16:creationId xmlns:a16="http://schemas.microsoft.com/office/drawing/2014/main" id="{A2D90AC1-5A24-4722-8BAC-887329C7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C4C58C4B-A4BA-4966-9BD0-67CCE118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after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5060166-F663-4EA2-B6AC-584800C9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79057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온라인 티켓 서비스</a:t>
            </a:r>
          </a:p>
          <a:p xmlns:a="http://schemas.openxmlformats.org/drawingml/2006/main">
            <a:pPr algn="l">
              <a:defRPr sz="43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결제 경로 사전 설명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16265FB-8634-4E3F-9F04-9BE7864B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토스페이먼츠 사전 문의용 · 2026.10</a:t>
            </a:r>
          </a:p>
        </p:txBody>
      </p:sp>
      <p:sp>
        <p:nvSpPr>
          <p:cNvPr id="5" name="cover-status-bg">
            <a:extLst xmlns:a="http://schemas.openxmlformats.org/drawingml/2006/main">
              <a:ext uri="{FF2B5EF4-FFF2-40B4-BE49-F238E27FC236}">
                <a16:creationId xmlns:a16="http://schemas.microsoft.com/office/drawing/2014/main" id="{42900881-9786-4C3C-9E60-7503A9EE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600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CABA5D38-2FCC-43DE-A203-20B2D4F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29200"/>
            <a:ext cx="556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현재 무료 베타 · 실결제 미연동</a:t>
            </a:r>
          </a:p>
        </p:txBody>
      </p:sp>
      <p:sp>
        <p:nvSpPr>
          <p:cNvPr id="7" name="cover-caveat">
            <a:extLst xmlns:a="http://schemas.openxmlformats.org/drawingml/2006/main">
              <a:ext uri="{FF2B5EF4-FFF2-40B4-BE49-F238E27FC236}">
                <a16:creationId xmlns:a16="http://schemas.microsoft.com/office/drawing/2014/main" id="{DD28BCB2-2D65-4A9D-8B78-B2F3FF51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이 자료는 현재 상태와 향후 결제 흐름을 설명합니다.</a:t>
            </a:r>
          </a:p>
          <a:p xmlns:a="http://schemas.openxmlformats.org/drawingml/2006/main">
            <a:pPr algn="l">
              <a:def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정식 카드사 심사용 결제 화면 증빙은 실제 연동 후 보완합니다.</a:t>
            </a:r>
          </a:p>
        </p:txBody>
      </p:sp>
    </p:spTree>
    <p:extLst>
      <p:ext uri="{BB962C8B-B14F-4D97-AF65-F5344CB8AC3E}">
        <p14:creationId xmlns:p14="http://schemas.microsoft.com/office/powerpoint/2010/main" val="1611791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2">
            <a:extLst xmlns:a="http://schemas.openxmlformats.org/drawingml/2006/main">
              <a:ext uri="{FF2B5EF4-FFF2-40B4-BE49-F238E27FC236}">
                <a16:creationId xmlns:a16="http://schemas.microsoft.com/office/drawing/2014/main" id="{1CB431BF-115D-4A5D-9525-D6CCDBB1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심사자가 확인할 수 있는 로그인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9AB8764-A520-4C2E-A0D8-EC12C634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검토용 계정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5B197B7D-9D2E-42A4-954D-8D6B0416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383218B8-8EB7-44CD-9FE2-E4C6D2E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애프터 · 토스페이먼츠 사전 문의 자료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0B0ADECB-6DE3-4F93-B425-3A6A5D58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198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account-login-label">
            <a:extLst xmlns:a="http://schemas.openxmlformats.org/drawingml/2006/main">
              <a:ext uri="{FF2B5EF4-FFF2-40B4-BE49-F238E27FC236}">
                <a16:creationId xmlns:a16="http://schemas.microsoft.com/office/drawing/2014/main" id="{E909DB67-2BA8-4F04-8159-8C514757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7" name="account-login-url">
            <a:extLst xmlns:a="http://schemas.openxmlformats.org/drawingml/2006/main">
              <a:ext uri="{FF2B5EF4-FFF2-40B4-BE49-F238E27FC236}">
                <a16:creationId xmlns:a16="http://schemas.microsoft.com/office/drawing/2014/main" id="{C0DE97CE-C199-4CF4-A4A6-C51BF408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https://aftersunset.kr/login</a:t>
            </a:r>
          </a:p>
        </p:txBody>
      </p:sp>
      <p:sp>
        <p:nvSpPr>
          <p:cNvPr id="8" name="account-email">
            <a:extLst xmlns:a="http://schemas.openxmlformats.org/drawingml/2006/main">
              <a:ext uri="{FF2B5EF4-FFF2-40B4-BE49-F238E27FC236}">
                <a16:creationId xmlns:a16="http://schemas.microsoft.com/office/drawing/2014/main" id="{C6E7E7A0-2A4F-4918-9F6F-2BEFF4D7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review-male@eclps.kr</a:t>
            </a:r>
          </a:p>
        </p:txBody>
      </p:sp>
      <p:sp>
        <p:nvSpPr>
          <p:cNvPr id="9" name="account-password-note">
            <a:extLst xmlns:a="http://schemas.openxmlformats.org/drawingml/2006/main">
              <a:ext uri="{FF2B5EF4-FFF2-40B4-BE49-F238E27FC236}">
                <a16:creationId xmlns:a16="http://schemas.microsoft.com/office/drawing/2014/main" id="{50961D24-86B7-485D-9760-8314C1EE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비밀번호는 검토 메일 본문에 별도로 기재</a:t>
            </a:r>
          </a:p>
        </p:txBody>
      </p:sp>
      <p:sp>
        <p:nvSpPr>
          <p:cNvPr id="10" name="account-divider">
            <a:extLst xmlns:a="http://schemas.openxmlformats.org/drawingml/2006/main">
              <a:ext uri="{FF2B5EF4-FFF2-40B4-BE49-F238E27FC236}">
                <a16:creationId xmlns:a16="http://schemas.microsoft.com/office/drawing/2014/main" id="{C51CA438-FE8B-4D48-A5AD-E9F81AF4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count-role-label">
            <a:extLst xmlns:a="http://schemas.openxmlformats.org/drawingml/2006/main">
              <a:ext uri="{FF2B5EF4-FFF2-40B4-BE49-F238E27FC236}">
                <a16:creationId xmlns:a16="http://schemas.microsoft.com/office/drawing/2014/main" id="{67B56E6E-4ADA-4141-A393-7FA698ED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권한</a:t>
            </a:r>
          </a:p>
        </p:txBody>
      </p:sp>
      <p:sp>
        <p:nvSpPr>
          <p:cNvPr id="12" name="account-role">
            <a:extLst xmlns:a="http://schemas.openxmlformats.org/drawingml/2006/main">
              <a:ext uri="{FF2B5EF4-FFF2-40B4-BE49-F238E27FC236}">
                <a16:creationId xmlns:a16="http://schemas.microsoft.com/office/drawing/2014/main" id="{E9313B7C-D23E-4E80-BBA9-879404B9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577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일반 회원 · 운영자 권한 없음</a:t>
            </a:r>
          </a:p>
        </p:txBody>
      </p:sp>
      <p:sp>
        <p:nvSpPr>
          <p:cNvPr id="13" name="account-check-label">
            <a:extLst xmlns:a="http://schemas.openxmlformats.org/drawingml/2006/main">
              <a:ext uri="{FF2B5EF4-FFF2-40B4-BE49-F238E27FC236}">
                <a16:creationId xmlns:a16="http://schemas.microsoft.com/office/drawing/2014/main" id="{A5157858-0857-4B37-A98B-D268ECFE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로그인 확인</a:t>
            </a:r>
          </a:p>
        </p:txBody>
      </p:sp>
      <p:sp>
        <p:nvSpPr>
          <p:cNvPr id="14" name="account-check">
            <a:extLst xmlns:a="http://schemas.openxmlformats.org/drawingml/2006/main">
              <a:ext uri="{FF2B5EF4-FFF2-40B4-BE49-F238E27FC236}">
                <a16:creationId xmlns:a16="http://schemas.microsoft.com/office/drawing/2014/main" id="{DF53CB22-1804-436C-94C7-7278F7D6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149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운영 Supabase 로그인 성공 · 소개 1건 · 무료 티켓 2종</a:t>
            </a:r>
          </a:p>
        </p:txBody>
      </p:sp>
      <p:sp>
        <p:nvSpPr>
          <p:cNvPr id="15" name="account-note-bg">
            <a:extLst xmlns:a="http://schemas.openxmlformats.org/drawingml/2006/main">
              <a:ext uri="{FF2B5EF4-FFF2-40B4-BE49-F238E27FC236}">
                <a16:creationId xmlns:a16="http://schemas.microsoft.com/office/drawing/2014/main" id="{79D947F9-1BF1-4A47-9E78-C828CCA5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3048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count-note-title">
            <a:extLst xmlns:a="http://schemas.openxmlformats.org/drawingml/2006/main">
              <a:ext uri="{FF2B5EF4-FFF2-40B4-BE49-F238E27FC236}">
                <a16:creationId xmlns:a16="http://schemas.microsoft.com/office/drawing/2014/main" id="{BBF92362-BEDF-4033-A9D7-6365FBEB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확인된 상태</a:t>
            </a:r>
          </a:p>
        </p:txBody>
      </p:sp>
      <p:sp>
        <p:nvSpPr>
          <p:cNvPr id="17" name="account-note-body">
            <a:extLst xmlns:a="http://schemas.openxmlformats.org/drawingml/2006/main">
              <a:ext uri="{FF2B5EF4-FFF2-40B4-BE49-F238E27FC236}">
                <a16:creationId xmlns:a16="http://schemas.microsoft.com/office/drawing/2014/main" id="{701F4AE2-C423-46CB-80B9-2D4DC635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38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활성 회원</a:t>
            </a:r>
          </a:p>
          <a:p xmlns:a="http://schemas.openxmlformats.org/drawingml/2006/main">
            <a:pPr algn="l">
              <a:def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프로필 작성 완료</a:t>
            </a:r>
          </a:p>
          <a:p xmlns:a="http://schemas.openxmlformats.org/drawingml/2006/main">
            <a:pPr algn="l">
              <a:def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소개 대기 1건</a:t>
            </a:r>
          </a:p>
          <a:p xmlns:a="http://schemas.openxmlformats.org/drawingml/2006/main">
            <a:pPr algn="l">
              <a:def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소개 티켓 1장</a:t>
            </a:r>
          </a:p>
          <a:p xmlns:a="http://schemas.openxmlformats.org/drawingml/2006/main">
            <a:pPr algn="l">
              <a:def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만남 티켓 1장</a:t>
            </a:r>
          </a:p>
        </p:txBody>
      </p:sp>
    </p:spTree>
    <p:extLst>
      <p:ext uri="{BB962C8B-B14F-4D97-AF65-F5344CB8AC3E}">
        <p14:creationId xmlns:p14="http://schemas.microsoft.com/office/powerpoint/2010/main" val="1193877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-3">
            <a:extLst xmlns:a="http://schemas.openxmlformats.org/drawingml/2006/main">
              <a:ext uri="{FF2B5EF4-FFF2-40B4-BE49-F238E27FC236}">
                <a16:creationId xmlns:a16="http://schemas.microsoft.com/office/drawing/2014/main" id="{45EAB1F6-90F0-40A3-A596-985E090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운영 사이트에서 가능한 흐름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1E03D31-2825-4251-801D-46F66A5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현재 무료 베타 이용 경로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8031B8AC-1BC7-47B4-B304-C9835DA4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22DE8080-06F7-4295-A28C-5640F4F1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애프터 · 토스페이먼츠 사전 문의 자료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1EC4F123-8920-4D4B-BC6F-F85D683D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198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live-1-outline">
            <a:extLst xmlns:a="http://schemas.openxmlformats.org/drawingml/2006/main">
              <a:ext uri="{FF2B5EF4-FFF2-40B4-BE49-F238E27FC236}">
                <a16:creationId xmlns:a16="http://schemas.microsoft.com/office/drawing/2014/main" id="{4C61D7B8-7E7D-42EE-A8C3-268D01A9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362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7" name="live-1-accent">
            <a:extLst xmlns:a="http://schemas.openxmlformats.org/drawingml/2006/main">
              <a:ext uri="{FF2B5EF4-FFF2-40B4-BE49-F238E27FC236}">
                <a16:creationId xmlns:a16="http://schemas.microsoft.com/office/drawing/2014/main" id="{1625A27E-1A3B-49BC-8F60-048D1AE1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ive-1-number">
            <a:extLst xmlns:a="http://schemas.openxmlformats.org/drawingml/2006/main">
              <a:ext uri="{FF2B5EF4-FFF2-40B4-BE49-F238E27FC236}">
                <a16:creationId xmlns:a16="http://schemas.microsoft.com/office/drawing/2014/main" id="{3EC2918C-5B42-4525-AC28-6162F470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live-1-status">
            <a:extLst xmlns:a="http://schemas.openxmlformats.org/drawingml/2006/main">
              <a:ext uri="{FF2B5EF4-FFF2-40B4-BE49-F238E27FC236}">
                <a16:creationId xmlns:a16="http://schemas.microsoft.com/office/drawing/2014/main" id="{C615FD7C-AE89-4F84-A238-48E8FAB1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rPr>
              <a:t>운영 중</a:t>
            </a:r>
          </a:p>
        </p:txBody>
      </p:sp>
      <p:sp>
        <p:nvSpPr>
          <p:cNvPr id="10" name="live-1-title">
            <a:extLst xmlns:a="http://schemas.openxmlformats.org/drawingml/2006/main">
              <a:ext uri="{FF2B5EF4-FFF2-40B4-BE49-F238E27FC236}">
                <a16:creationId xmlns:a16="http://schemas.microsoft.com/office/drawing/2014/main" id="{207595E8-050F-46CF-9611-37BFD06D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회원 로그인</a:t>
            </a:r>
          </a:p>
        </p:txBody>
      </p:sp>
      <p:sp>
        <p:nvSpPr>
          <p:cNvPr id="11" name="live-1-body">
            <a:extLst xmlns:a="http://schemas.openxmlformats.org/drawingml/2006/main">
              <a:ext uri="{FF2B5EF4-FFF2-40B4-BE49-F238E27FC236}">
                <a16:creationId xmlns:a16="http://schemas.microsoft.com/office/drawing/2014/main" id="{0045E892-9528-41F8-AF4D-F986F859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회사 이메일 계정</a:t>
            </a:r>
          </a:p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비밀번호로 로그인</a:t>
            </a:r>
          </a:p>
        </p:txBody>
      </p:sp>
      <p:sp>
        <p:nvSpPr>
          <p:cNvPr id="12" name="live-1-status-rule">
            <a:extLst xmlns:a="http://schemas.openxmlformats.org/drawingml/2006/main">
              <a:ext uri="{FF2B5EF4-FFF2-40B4-BE49-F238E27FC236}">
                <a16:creationId xmlns:a16="http://schemas.microsoft.com/office/drawing/2014/main" id="{2DFD71A0-231E-4D7A-A46A-3A79A9CD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ive-2-outline">
            <a:extLst xmlns:a="http://schemas.openxmlformats.org/drawingml/2006/main">
              <a:ext uri="{FF2B5EF4-FFF2-40B4-BE49-F238E27FC236}">
                <a16:creationId xmlns:a16="http://schemas.microsoft.com/office/drawing/2014/main" id="{4A05479F-E746-42D0-833C-A0A8727D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2362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14" name="live-2-accent">
            <a:extLst xmlns:a="http://schemas.openxmlformats.org/drawingml/2006/main">
              <a:ext uri="{FF2B5EF4-FFF2-40B4-BE49-F238E27FC236}">
                <a16:creationId xmlns:a16="http://schemas.microsoft.com/office/drawing/2014/main" id="{D71A460A-E999-4E55-9075-AC1A9B7A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ive-2-number">
            <a:extLst xmlns:a="http://schemas.openxmlformats.org/drawingml/2006/main">
              <a:ext uri="{FF2B5EF4-FFF2-40B4-BE49-F238E27FC236}">
                <a16:creationId xmlns:a16="http://schemas.microsoft.com/office/drawing/2014/main" id="{57BB793E-7A59-4411-BB3F-1CDCBB8A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6" name="live-2-status">
            <a:extLst xmlns:a="http://schemas.openxmlformats.org/drawingml/2006/main">
              <a:ext uri="{FF2B5EF4-FFF2-40B4-BE49-F238E27FC236}">
                <a16:creationId xmlns:a16="http://schemas.microsoft.com/office/drawing/2014/main" id="{B58274CE-BAE2-42FC-9AF1-CC13DA6D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rPr>
              <a:t>운영 중</a:t>
            </a:r>
          </a:p>
        </p:txBody>
      </p:sp>
      <p:sp>
        <p:nvSpPr>
          <p:cNvPr id="17" name="live-2-title">
            <a:extLst xmlns:a="http://schemas.openxmlformats.org/drawingml/2006/main">
              <a:ext uri="{FF2B5EF4-FFF2-40B4-BE49-F238E27FC236}">
                <a16:creationId xmlns:a16="http://schemas.microsoft.com/office/drawing/2014/main" id="{B823FCB4-66BF-4D2F-A25B-9ED8F2D3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티켓 선택</a:t>
            </a:r>
          </a:p>
        </p:txBody>
      </p:sp>
      <p:sp>
        <p:nvSpPr>
          <p:cNvPr id="18" name="live-2-body">
            <a:extLst xmlns:a="http://schemas.openxmlformats.org/drawingml/2006/main">
              <a:ext uri="{FF2B5EF4-FFF2-40B4-BE49-F238E27FC236}">
                <a16:creationId xmlns:a16="http://schemas.microsoft.com/office/drawing/2014/main" id="{3AE42F4C-5D0A-43D1-8A2C-A72A6478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8137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소개 또는 만남</a:t>
            </a:r>
          </a:p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티켓 종류·수량 선택</a:t>
            </a:r>
          </a:p>
        </p:txBody>
      </p:sp>
      <p:sp>
        <p:nvSpPr>
          <p:cNvPr id="19" name="live-2-status-rule">
            <a:extLst xmlns:a="http://schemas.openxmlformats.org/drawingml/2006/main">
              <a:ext uri="{FF2B5EF4-FFF2-40B4-BE49-F238E27FC236}">
                <a16:creationId xmlns:a16="http://schemas.microsoft.com/office/drawing/2014/main" id="{581342B2-2E74-4597-ACCF-7395112C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95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ive-3-outline">
            <a:extLst xmlns:a="http://schemas.openxmlformats.org/drawingml/2006/main">
              <a:ext uri="{FF2B5EF4-FFF2-40B4-BE49-F238E27FC236}">
                <a16:creationId xmlns:a16="http://schemas.microsoft.com/office/drawing/2014/main" id="{93298081-BA4D-4E90-A607-C79F8887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2362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1" name="live-3-accent">
            <a:extLst xmlns:a="http://schemas.openxmlformats.org/drawingml/2006/main">
              <a:ext uri="{FF2B5EF4-FFF2-40B4-BE49-F238E27FC236}">
                <a16:creationId xmlns:a16="http://schemas.microsoft.com/office/drawing/2014/main" id="{DEC3E6A7-8471-4D51-82F0-0D885D39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5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ive-3-number">
            <a:extLst xmlns:a="http://schemas.openxmlformats.org/drawingml/2006/main">
              <a:ext uri="{FF2B5EF4-FFF2-40B4-BE49-F238E27FC236}">
                <a16:creationId xmlns:a16="http://schemas.microsoft.com/office/drawing/2014/main" id="{FDD26A20-2CDC-402E-8E5E-088363C7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3" name="live-3-status">
            <a:extLst xmlns:a="http://schemas.openxmlformats.org/drawingml/2006/main">
              <a:ext uri="{FF2B5EF4-FFF2-40B4-BE49-F238E27FC236}">
                <a16:creationId xmlns:a16="http://schemas.microsoft.com/office/drawing/2014/main" id="{B5B8497A-58D4-4F86-B169-240798BB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479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rPr>
              <a:t>베타 무료</a:t>
            </a:r>
          </a:p>
        </p:txBody>
      </p:sp>
      <p:sp>
        <p:nvSpPr>
          <p:cNvPr id="24" name="live-3-title">
            <a:extLst xmlns:a="http://schemas.openxmlformats.org/drawingml/2006/main">
              <a:ext uri="{FF2B5EF4-FFF2-40B4-BE49-F238E27FC236}">
                <a16:creationId xmlns:a16="http://schemas.microsoft.com/office/drawing/2014/main" id="{4F2CFAC8-A242-4972-B609-13F4FEE4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무료 신청</a:t>
            </a:r>
          </a:p>
        </p:txBody>
      </p:sp>
      <p:sp>
        <p:nvSpPr>
          <p:cNvPr id="25" name="live-3-body">
            <a:extLst xmlns:a="http://schemas.openxmlformats.org/drawingml/2006/main">
              <a:ext uri="{FF2B5EF4-FFF2-40B4-BE49-F238E27FC236}">
                <a16:creationId xmlns:a16="http://schemas.microsoft.com/office/drawing/2014/main" id="{2396708B-3C59-4E57-B99B-D84950F4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8137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금액 결제가 아닌</a:t>
            </a:r>
          </a:p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티켓 발급 요청</a:t>
            </a:r>
          </a:p>
        </p:txBody>
      </p:sp>
      <p:sp>
        <p:nvSpPr>
          <p:cNvPr id="26" name="live-3-status-rule">
            <a:extLst xmlns:a="http://schemas.openxmlformats.org/drawingml/2006/main">
              <a:ext uri="{FF2B5EF4-FFF2-40B4-BE49-F238E27FC236}">
                <a16:creationId xmlns:a16="http://schemas.microsoft.com/office/drawing/2014/main" id="{4293403D-1AD6-42F7-B05C-ADA739B5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live-4-outline">
            <a:extLst xmlns:a="http://schemas.openxmlformats.org/drawingml/2006/main">
              <a:ext uri="{FF2B5EF4-FFF2-40B4-BE49-F238E27FC236}">
                <a16:creationId xmlns:a16="http://schemas.microsoft.com/office/drawing/2014/main" id="{BBA17C70-0D6D-445A-930F-8FBBD3BB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362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8" name="live-4-accent">
            <a:extLst xmlns:a="http://schemas.openxmlformats.org/drawingml/2006/main">
              <a:ext uri="{FF2B5EF4-FFF2-40B4-BE49-F238E27FC236}">
                <a16:creationId xmlns:a16="http://schemas.microsoft.com/office/drawing/2014/main" id="{A16760E3-A1BE-467B-920F-8F0926BE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5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live-4-number">
            <a:extLst xmlns:a="http://schemas.openxmlformats.org/drawingml/2006/main">
              <a:ext uri="{FF2B5EF4-FFF2-40B4-BE49-F238E27FC236}">
                <a16:creationId xmlns:a16="http://schemas.microsoft.com/office/drawing/2014/main" id="{33F598EE-3653-4347-B724-44982BA8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0" name="live-4-status">
            <a:extLst xmlns:a="http://schemas.openxmlformats.org/drawingml/2006/main">
              <a:ext uri="{FF2B5EF4-FFF2-40B4-BE49-F238E27FC236}">
                <a16:creationId xmlns:a16="http://schemas.microsoft.com/office/drawing/2014/main" id="{FF047FAF-10F8-4D14-8D00-07996FA8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479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rPr>
              <a:t>수기 처리</a:t>
            </a:r>
          </a:p>
        </p:txBody>
      </p:sp>
      <p:sp>
        <p:nvSpPr>
          <p:cNvPr id="31" name="live-4-title">
            <a:extLst xmlns:a="http://schemas.openxmlformats.org/drawingml/2006/main">
              <a:ext uri="{FF2B5EF4-FFF2-40B4-BE49-F238E27FC236}">
                <a16:creationId xmlns:a16="http://schemas.microsoft.com/office/drawing/2014/main" id="{DEAC6A95-7D2A-41D7-89D3-8B63974E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운영자 발급</a:t>
            </a:r>
          </a:p>
        </p:txBody>
      </p:sp>
      <p:sp>
        <p:nvSpPr>
          <p:cNvPr id="32" name="live-4-body">
            <a:extLst xmlns:a="http://schemas.openxmlformats.org/drawingml/2006/main">
              <a:ext uri="{FF2B5EF4-FFF2-40B4-BE49-F238E27FC236}">
                <a16:creationId xmlns:a16="http://schemas.microsoft.com/office/drawing/2014/main" id="{560E3FEE-E499-4767-BD32-82CD0FF8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8137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확인 후 티켓을</a:t>
            </a:r>
          </a:p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계정에 지급</a:t>
            </a:r>
          </a:p>
        </p:txBody>
      </p:sp>
      <p:sp>
        <p:nvSpPr>
          <p:cNvPr id="33" name="live-4-status-rule">
            <a:extLst xmlns:a="http://schemas.openxmlformats.org/drawingml/2006/main">
              <a:ext uri="{FF2B5EF4-FFF2-40B4-BE49-F238E27FC236}">
                <a16:creationId xmlns:a16="http://schemas.microsoft.com/office/drawing/2014/main" id="{353EACB8-009B-4ED1-927E-2402D0EB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95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live-connector-326">
            <a:extLst xmlns:a="http://schemas.openxmlformats.org/drawingml/2006/main">
              <a:ext uri="{FF2B5EF4-FFF2-40B4-BE49-F238E27FC236}">
                <a16:creationId xmlns:a16="http://schemas.microsoft.com/office/drawing/2014/main" id="{78E3CA1E-1761-4BBA-B8B0-969CF85E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ive-connector-612">
            <a:extLst xmlns:a="http://schemas.openxmlformats.org/drawingml/2006/main">
              <a:ext uri="{FF2B5EF4-FFF2-40B4-BE49-F238E27FC236}">
                <a16:creationId xmlns:a16="http://schemas.microsoft.com/office/drawing/2014/main" id="{7B54B755-3C56-4742-AC54-0B88A05A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337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ive-connector-898">
            <a:extLst xmlns:a="http://schemas.openxmlformats.org/drawingml/2006/main">
              <a:ext uri="{FF2B5EF4-FFF2-40B4-BE49-F238E27FC236}">
                <a16:creationId xmlns:a16="http://schemas.microsoft.com/office/drawing/2014/main" id="{8BCDE2A5-7F19-4742-9EBE-82DD4FDA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337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live-caveat-bg">
            <a:extLst xmlns:a="http://schemas.openxmlformats.org/drawingml/2006/main">
              <a:ext uri="{FF2B5EF4-FFF2-40B4-BE49-F238E27FC236}">
                <a16:creationId xmlns:a16="http://schemas.microsoft.com/office/drawing/2014/main" id="{10948D97-9597-4399-A8D0-EC5D25C5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ive-caveat-label">
            <a:extLst xmlns:a="http://schemas.openxmlformats.org/drawingml/2006/main">
              <a:ext uri="{FF2B5EF4-FFF2-40B4-BE49-F238E27FC236}">
                <a16:creationId xmlns:a16="http://schemas.microsoft.com/office/drawing/2014/main" id="{B4CD4119-29EF-44AF-8044-E72CEDF8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현재 결제 상태</a:t>
            </a:r>
          </a:p>
        </p:txBody>
      </p:sp>
      <p:sp>
        <p:nvSpPr>
          <p:cNvPr id="39" name="live-caveat">
            <a:extLst xmlns:a="http://schemas.openxmlformats.org/drawingml/2006/main">
              <a:ext uri="{FF2B5EF4-FFF2-40B4-BE49-F238E27FC236}">
                <a16:creationId xmlns:a16="http://schemas.microsoft.com/office/drawing/2014/main" id="{DB79B586-62AA-4EE1-8569-6DD2968B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196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결제 기능 OFF · 토스 결제창 미연동 · 스토어는 무료 신청 화면</a:t>
            </a:r>
          </a:p>
        </p:txBody>
      </p:sp>
      <p:sp>
        <p:nvSpPr>
          <p:cNvPr id="40" name="live-route">
            <a:extLst xmlns:a="http://schemas.openxmlformats.org/drawingml/2006/main">
              <a:ext uri="{FF2B5EF4-FFF2-40B4-BE49-F238E27FC236}">
                <a16:creationId xmlns:a16="http://schemas.microsoft.com/office/drawing/2014/main" id="{471D142C-42FE-4AA7-BDB8-A6931D70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실제 화면 경로: 로그인 → 티켓 받기 (/store?kind=meeting)</a:t>
            </a:r>
          </a:p>
        </p:txBody>
      </p:sp>
    </p:spTree>
    <p:extLst>
      <p:ext uri="{BB962C8B-B14F-4D97-AF65-F5344CB8AC3E}">
        <p14:creationId xmlns:p14="http://schemas.microsoft.com/office/powerpoint/2010/main" val="2070445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-4">
            <a:extLst xmlns:a="http://schemas.openxmlformats.org/drawingml/2006/main">
              <a:ext uri="{FF2B5EF4-FFF2-40B4-BE49-F238E27FC236}">
                <a16:creationId xmlns:a16="http://schemas.microsoft.com/office/drawing/2014/main" id="{01F22139-A57C-4135-9731-5E7F40F9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구현 예정 흐름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3975B3F-8575-41AD-B7B1-1202669F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토스 연동 후 결제 경로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56C04B72-FB80-42E0-AB11-729381A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FE44D377-BDF3-44F1-8C65-4B2F8C3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애프터 · 토스페이먼츠 사전 문의 자료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A900F7E7-15CB-4B5A-BFBD-28911BB4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198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future-1-outline">
            <a:extLst xmlns:a="http://schemas.openxmlformats.org/drawingml/2006/main">
              <a:ext uri="{FF2B5EF4-FFF2-40B4-BE49-F238E27FC236}">
                <a16:creationId xmlns:a16="http://schemas.microsoft.com/office/drawing/2014/main" id="{50263DE6-D90E-4D22-ADE6-66D8AE3F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62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7" name="future-1-accent">
            <a:extLst xmlns:a="http://schemas.openxmlformats.org/drawingml/2006/main">
              <a:ext uri="{FF2B5EF4-FFF2-40B4-BE49-F238E27FC236}">
                <a16:creationId xmlns:a16="http://schemas.microsoft.com/office/drawing/2014/main" id="{B3FA9273-D889-4BA4-8266-2CE00709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5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uture-1-number">
            <a:extLst xmlns:a="http://schemas.openxmlformats.org/drawingml/2006/main">
              <a:ext uri="{FF2B5EF4-FFF2-40B4-BE49-F238E27FC236}">
                <a16:creationId xmlns:a16="http://schemas.microsoft.com/office/drawing/2014/main" id="{CB05CB7C-2316-4523-ABAF-7EBD9117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future-1-status">
            <a:extLst xmlns:a="http://schemas.openxmlformats.org/drawingml/2006/main">
              <a:ext uri="{FF2B5EF4-FFF2-40B4-BE49-F238E27FC236}">
                <a16:creationId xmlns:a16="http://schemas.microsoft.com/office/drawing/2014/main" id="{D57F69C8-5633-4F9B-848E-BE950A56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rPr>
              <a:t>상품·가격 확정 필요</a:t>
            </a:r>
          </a:p>
        </p:txBody>
      </p:sp>
      <p:sp>
        <p:nvSpPr>
          <p:cNvPr id="10" name="future-1-title">
            <a:extLst xmlns:a="http://schemas.openxmlformats.org/drawingml/2006/main">
              <a:ext uri="{FF2B5EF4-FFF2-40B4-BE49-F238E27FC236}">
                <a16:creationId xmlns:a16="http://schemas.microsoft.com/office/drawing/2014/main" id="{CE9C095A-F90C-4CA4-90DF-85829115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상품 선택</a:t>
            </a:r>
          </a:p>
        </p:txBody>
      </p:sp>
      <p:sp>
        <p:nvSpPr>
          <p:cNvPr id="11" name="future-1-body">
            <a:extLst xmlns:a="http://schemas.openxmlformats.org/drawingml/2006/main">
              <a:ext uri="{FF2B5EF4-FFF2-40B4-BE49-F238E27FC236}">
                <a16:creationId xmlns:a16="http://schemas.microsoft.com/office/drawing/2014/main" id="{C0CD2BA6-3EF7-4553-9773-3F2F8EA4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티켓 종류와</a:t>
            </a:r>
          </a:p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수량 선택</a:t>
            </a:r>
          </a:p>
        </p:txBody>
      </p:sp>
      <p:sp>
        <p:nvSpPr>
          <p:cNvPr id="12" name="future-1-status-rule">
            <a:extLst xmlns:a="http://schemas.openxmlformats.org/drawingml/2006/main">
              <a:ext uri="{FF2B5EF4-FFF2-40B4-BE49-F238E27FC236}">
                <a16:creationId xmlns:a16="http://schemas.microsoft.com/office/drawing/2014/main" id="{8B3A9EF9-4275-4B20-8A5E-0914128A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uture-2-outline">
            <a:extLst xmlns:a="http://schemas.openxmlformats.org/drawingml/2006/main">
              <a:ext uri="{FF2B5EF4-FFF2-40B4-BE49-F238E27FC236}">
                <a16:creationId xmlns:a16="http://schemas.microsoft.com/office/drawing/2014/main" id="{13B23EC9-51CC-4BB6-9EB6-8AE3614D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362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14" name="future-2-accent">
            <a:extLst xmlns:a="http://schemas.openxmlformats.org/drawingml/2006/main">
              <a:ext uri="{FF2B5EF4-FFF2-40B4-BE49-F238E27FC236}">
                <a16:creationId xmlns:a16="http://schemas.microsoft.com/office/drawing/2014/main" id="{729688A6-9879-411C-B7CB-E4E096AA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5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uture-2-number">
            <a:extLst xmlns:a="http://schemas.openxmlformats.org/drawingml/2006/main">
              <a:ext uri="{FF2B5EF4-FFF2-40B4-BE49-F238E27FC236}">
                <a16:creationId xmlns:a16="http://schemas.microsoft.com/office/drawing/2014/main" id="{BF976AB7-053B-47F2-A3AD-E1080DA7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6" name="future-2-status">
            <a:extLst xmlns:a="http://schemas.openxmlformats.org/drawingml/2006/main">
              <a:ext uri="{FF2B5EF4-FFF2-40B4-BE49-F238E27FC236}">
                <a16:creationId xmlns:a16="http://schemas.microsoft.com/office/drawing/2014/main" id="{25F758D7-BDF8-4833-B05C-7551E2DE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805F21"/>
                </a:solidFill>
                <a:latin typeface="Apple SD Gothic Neo"/>
                <a:ea typeface="Apple SD Gothic Neo"/>
                <a:cs typeface="Apple SD Gothic Neo"/>
              </a:rPr>
              <a:t>정책 확정 필요</a:t>
            </a:r>
          </a:p>
        </p:txBody>
      </p:sp>
      <p:sp>
        <p:nvSpPr>
          <p:cNvPr id="17" name="future-2-title">
            <a:extLst xmlns:a="http://schemas.openxmlformats.org/drawingml/2006/main">
              <a:ext uri="{FF2B5EF4-FFF2-40B4-BE49-F238E27FC236}">
                <a16:creationId xmlns:a16="http://schemas.microsoft.com/office/drawing/2014/main" id="{02E551B9-3EE6-4048-949C-41F10D85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조건 확인</a:t>
            </a:r>
          </a:p>
        </p:txBody>
      </p:sp>
      <p:sp>
        <p:nvSpPr>
          <p:cNvPr id="18" name="future-2-body">
            <a:extLst xmlns:a="http://schemas.openxmlformats.org/drawingml/2006/main">
              <a:ext uri="{FF2B5EF4-FFF2-40B4-BE49-F238E27FC236}">
                <a16:creationId xmlns:a16="http://schemas.microsoft.com/office/drawing/2014/main" id="{DB5FD696-6355-4FA9-A3D1-BED4CDC9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04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가격·제공 기간·</a:t>
            </a:r>
          </a:p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취소·환불 확인</a:t>
            </a:r>
          </a:p>
        </p:txBody>
      </p:sp>
      <p:sp>
        <p:nvSpPr>
          <p:cNvPr id="19" name="future-2-status-rule">
            <a:extLst xmlns:a="http://schemas.openxmlformats.org/drawingml/2006/main">
              <a:ext uri="{FF2B5EF4-FFF2-40B4-BE49-F238E27FC236}">
                <a16:creationId xmlns:a16="http://schemas.microsoft.com/office/drawing/2014/main" id="{0DDFC9FD-1BA7-488C-A54F-DE62CB6B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386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uture-3-outline">
            <a:extLst xmlns:a="http://schemas.openxmlformats.org/drawingml/2006/main">
              <a:ext uri="{FF2B5EF4-FFF2-40B4-BE49-F238E27FC236}">
                <a16:creationId xmlns:a16="http://schemas.microsoft.com/office/drawing/2014/main" id="{920C7A05-E451-4170-8FAD-63B8EAD7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362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1" name="future-3-accent">
            <a:extLst xmlns:a="http://schemas.openxmlformats.org/drawingml/2006/main">
              <a:ext uri="{FF2B5EF4-FFF2-40B4-BE49-F238E27FC236}">
                <a16:creationId xmlns:a16="http://schemas.microsoft.com/office/drawing/2014/main" id="{7D51E55A-D1A3-4B62-BB3D-1B1CA5BD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uture-3-number">
            <a:extLst xmlns:a="http://schemas.openxmlformats.org/drawingml/2006/main">
              <a:ext uri="{FF2B5EF4-FFF2-40B4-BE49-F238E27FC236}">
                <a16:creationId xmlns:a16="http://schemas.microsoft.com/office/drawing/2014/main" id="{4C422AF3-841E-4747-8A60-F4131B0F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3" name="future-3-status">
            <a:extLst xmlns:a="http://schemas.openxmlformats.org/drawingml/2006/main">
              <a:ext uri="{FF2B5EF4-FFF2-40B4-BE49-F238E27FC236}">
                <a16:creationId xmlns:a16="http://schemas.microsoft.com/office/drawing/2014/main" id="{703DF306-7BD0-4ED6-8410-D4523E6D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rPr>
              <a:t>미연동</a:t>
            </a:r>
          </a:p>
        </p:txBody>
      </p:sp>
      <p:sp>
        <p:nvSpPr>
          <p:cNvPr id="24" name="future-3-title">
            <a:extLst xmlns:a="http://schemas.openxmlformats.org/drawingml/2006/main">
              <a:ext uri="{FF2B5EF4-FFF2-40B4-BE49-F238E27FC236}">
                <a16:creationId xmlns:a16="http://schemas.microsoft.com/office/drawing/2014/main" id="{55BCCA6B-31EB-478E-8AFE-2F29D774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토스 결제창</a:t>
            </a:r>
          </a:p>
        </p:txBody>
      </p:sp>
      <p:sp>
        <p:nvSpPr>
          <p:cNvPr id="25" name="future-3-body">
            <a:extLst xmlns:a="http://schemas.openxmlformats.org/drawingml/2006/main">
              <a:ext uri="{FF2B5EF4-FFF2-40B4-BE49-F238E27FC236}">
                <a16:creationId xmlns:a16="http://schemas.microsoft.com/office/drawing/2014/main" id="{9F5C4D0F-D09F-4B1F-A370-5E17F09C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04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결제수단 선택 후</a:t>
            </a:r>
          </a:p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구매자 결제</a:t>
            </a:r>
          </a:p>
        </p:txBody>
      </p:sp>
      <p:sp>
        <p:nvSpPr>
          <p:cNvPr id="26" name="future-3-status-rule">
            <a:extLst xmlns:a="http://schemas.openxmlformats.org/drawingml/2006/main">
              <a:ext uri="{FF2B5EF4-FFF2-40B4-BE49-F238E27FC236}">
                <a16:creationId xmlns:a16="http://schemas.microsoft.com/office/drawing/2014/main" id="{191E3091-A1B7-44BE-B20C-21735895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uture-4-outline">
            <a:extLst xmlns:a="http://schemas.openxmlformats.org/drawingml/2006/main">
              <a:ext uri="{FF2B5EF4-FFF2-40B4-BE49-F238E27FC236}">
                <a16:creationId xmlns:a16="http://schemas.microsoft.com/office/drawing/2014/main" id="{9D97191E-37C9-46E1-A9B1-2872A65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62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8" name="future-4-accent">
            <a:extLst xmlns:a="http://schemas.openxmlformats.org/drawingml/2006/main">
              <a:ext uri="{FF2B5EF4-FFF2-40B4-BE49-F238E27FC236}">
                <a16:creationId xmlns:a16="http://schemas.microsoft.com/office/drawing/2014/main" id="{131A521F-FFDE-4901-99F9-3B59F091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E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uture-4-number">
            <a:extLst xmlns:a="http://schemas.openxmlformats.org/drawingml/2006/main">
              <a:ext uri="{FF2B5EF4-FFF2-40B4-BE49-F238E27FC236}">
                <a16:creationId xmlns:a16="http://schemas.microsoft.com/office/drawing/2014/main" id="{3FFA8290-32BD-4D16-8407-FC434A66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0" name="future-4-status">
            <a:extLst xmlns:a="http://schemas.openxmlformats.org/drawingml/2006/main">
              <a:ext uri="{FF2B5EF4-FFF2-40B4-BE49-F238E27FC236}">
                <a16:creationId xmlns:a16="http://schemas.microsoft.com/office/drawing/2014/main" id="{886BE95B-4974-4ED6-A758-4CF51059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669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rPr>
              <a:t>미연동</a:t>
            </a:r>
          </a:p>
        </p:txBody>
      </p:sp>
      <p:sp>
        <p:nvSpPr>
          <p:cNvPr id="31" name="future-4-title">
            <a:extLst xmlns:a="http://schemas.openxmlformats.org/drawingml/2006/main">
              <a:ext uri="{FF2B5EF4-FFF2-40B4-BE49-F238E27FC236}">
                <a16:creationId xmlns:a16="http://schemas.microsoft.com/office/drawing/2014/main" id="{369AC66B-C54C-4196-84A2-C922181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432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승인 확인</a:t>
            </a:r>
          </a:p>
        </p:txBody>
      </p:sp>
      <p:sp>
        <p:nvSpPr>
          <p:cNvPr id="32" name="future-4-body">
            <a:extLst xmlns:a="http://schemas.openxmlformats.org/drawingml/2006/main">
              <a:ext uri="{FF2B5EF4-FFF2-40B4-BE49-F238E27FC236}">
                <a16:creationId xmlns:a16="http://schemas.microsoft.com/office/drawing/2014/main" id="{D367B67E-B4FF-428B-8B6E-03C84C37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004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서버가 금액을 대조</a:t>
            </a:r>
          </a:p>
          <a:p xmlns:a="http://schemas.openxmlformats.org/drawingml/2006/main">
            <a:pPr algn="l">
              <a:def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승인 성공 시 발급</a:t>
            </a:r>
          </a:p>
        </p:txBody>
      </p:sp>
      <p:sp>
        <p:nvSpPr>
          <p:cNvPr id="33" name="future-4-status-rule">
            <a:extLst xmlns:a="http://schemas.openxmlformats.org/drawingml/2006/main">
              <a:ext uri="{FF2B5EF4-FFF2-40B4-BE49-F238E27FC236}">
                <a16:creationId xmlns:a16="http://schemas.microsoft.com/office/drawing/2014/main" id="{40E8C473-D124-44DD-B3C2-19C8347D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386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uture-connector-326">
            <a:extLst xmlns:a="http://schemas.openxmlformats.org/drawingml/2006/main">
              <a:ext uri="{FF2B5EF4-FFF2-40B4-BE49-F238E27FC236}">
                <a16:creationId xmlns:a16="http://schemas.microsoft.com/office/drawing/2014/main" id="{E51C1560-08B3-410E-B648-1385D9AE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527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uture-connector-612">
            <a:extLst xmlns:a="http://schemas.openxmlformats.org/drawingml/2006/main">
              <a:ext uri="{FF2B5EF4-FFF2-40B4-BE49-F238E27FC236}">
                <a16:creationId xmlns:a16="http://schemas.microsoft.com/office/drawing/2014/main" id="{82B938A8-111A-4A89-A541-807D5DAC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527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uture-connector-898">
            <a:extLst xmlns:a="http://schemas.openxmlformats.org/drawingml/2006/main">
              <a:ext uri="{FF2B5EF4-FFF2-40B4-BE49-F238E27FC236}">
                <a16:creationId xmlns:a16="http://schemas.microsoft.com/office/drawing/2014/main" id="{D2F4BC2E-7603-4E75-BDFF-553AB9D2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5277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7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uture-capture-note">
            <a:extLst xmlns:a="http://schemas.openxmlformats.org/drawingml/2006/main">
              <a:ext uri="{FF2B5EF4-FFF2-40B4-BE49-F238E27FC236}">
                <a16:creationId xmlns:a16="http://schemas.microsoft.com/office/drawing/2014/main" id="{B1A1740F-C0A3-4A77-A787-C219134C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결제창이 연결되면 이 순서대로 실제 화면을 캡처해 제출 자료를 갱신합니다.</a:t>
            </a:r>
          </a:p>
        </p:txBody>
      </p:sp>
      <p:sp>
        <p:nvSpPr>
          <p:cNvPr id="38" name="future-implementation-note">
            <a:extLst xmlns:a="http://schemas.openxmlformats.org/drawingml/2006/main">
              <a:ext uri="{FF2B5EF4-FFF2-40B4-BE49-F238E27FC236}">
                <a16:creationId xmlns:a16="http://schemas.microsoft.com/office/drawing/2014/main" id="{7623DFDD-FDC6-4F5D-A473-82EE1017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현재 코드에 승인 서버 처리 기반은 있으나, 구매자용 결제창·완료 화면은 운영 사이트에 없습니다.</a:t>
            </a:r>
          </a:p>
        </p:txBody>
      </p:sp>
    </p:spTree>
    <p:extLst>
      <p:ext uri="{BB962C8B-B14F-4D97-AF65-F5344CB8AC3E}">
        <p14:creationId xmlns:p14="http://schemas.microsoft.com/office/powerpoint/2010/main" val="674785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5">
            <a:extLst xmlns:a="http://schemas.openxmlformats.org/drawingml/2006/main">
              <a:ext uri="{FF2B5EF4-FFF2-40B4-BE49-F238E27FC236}">
                <a16:creationId xmlns:a16="http://schemas.microsoft.com/office/drawing/2014/main" id="{A719181C-0AD4-4B5E-981E-38C4C9FB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승인된 주문만 서비스에 반영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F8CBCC5-4C2B-46A9-8116-5F500AD9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결제 결과와 티켓 발급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92C969A6-51A3-45E8-939A-563CB5A3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F254DB8A-B3B8-41B9-8CF2-3DF2D69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애프터 · 토스페이먼츠 사전 문의 자료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0D525944-E3AF-482B-984B-B8E57BB7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198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6" name="success-heading">
            <a:extLst xmlns:a="http://schemas.openxmlformats.org/drawingml/2006/main">
              <a:ext uri="{FF2B5EF4-FFF2-40B4-BE49-F238E27FC236}">
                <a16:creationId xmlns:a16="http://schemas.microsoft.com/office/drawing/2014/main" id="{C98C0558-D0E7-43FE-B3FC-D94108E4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F6C58"/>
                </a:solidFill>
                <a:latin typeface="Apple SD Gothic Neo"/>
                <a:ea typeface="Apple SD Gothic Neo"/>
                <a:cs typeface="Apple SD Gothic Neo"/>
              </a:rPr>
              <a:t>결제 승인 후</a:t>
            </a:r>
          </a:p>
        </p:txBody>
      </p:sp>
      <p:sp>
        <p:nvSpPr>
          <p:cNvPr id="7" name="success-bg">
            <a:extLst xmlns:a="http://schemas.openxmlformats.org/drawingml/2006/main">
              <a:ext uri="{FF2B5EF4-FFF2-40B4-BE49-F238E27FC236}">
                <a16:creationId xmlns:a16="http://schemas.microsoft.com/office/drawing/2014/main" id="{E60CA0D4-890D-4C41-9ED4-EC24A0A3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ccess-body">
            <a:extLst xmlns:a="http://schemas.openxmlformats.org/drawingml/2006/main">
              <a:ext uri="{FF2B5EF4-FFF2-40B4-BE49-F238E27FC236}">
                <a16:creationId xmlns:a16="http://schemas.microsoft.com/office/drawing/2014/main" id="{0F48089A-D359-4AF4-89AE-74157B06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133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토스 승인 확인</a:t>
            </a:r>
          </a:p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→ 해당 수량의 티켓 발급</a:t>
            </a:r>
          </a:p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→ 소개 열람 또는 만남 일정 요청</a:t>
            </a:r>
          </a:p>
        </p:txBody>
      </p:sp>
      <p:sp>
        <p:nvSpPr>
          <p:cNvPr id="9" name="failure-heading">
            <a:extLst xmlns:a="http://schemas.openxmlformats.org/drawingml/2006/main">
              <a:ext uri="{FF2B5EF4-FFF2-40B4-BE49-F238E27FC236}">
                <a16:creationId xmlns:a16="http://schemas.microsoft.com/office/drawing/2014/main" id="{745B1B96-4E9E-4CA8-AFF7-7A17D003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963E39"/>
                </a:solidFill>
                <a:latin typeface="Apple SD Gothic Neo"/>
                <a:ea typeface="Apple SD Gothic Neo"/>
                <a:cs typeface="Apple SD Gothic Neo"/>
              </a:rPr>
              <a:t>취소·실패 시</a:t>
            </a:r>
          </a:p>
        </p:txBody>
      </p:sp>
      <p:sp>
        <p:nvSpPr>
          <p:cNvPr id="10" name="failure-bg">
            <a:extLst xmlns:a="http://schemas.openxmlformats.org/drawingml/2006/main">
              <a:ext uri="{FF2B5EF4-FFF2-40B4-BE49-F238E27FC236}">
                <a16:creationId xmlns:a16="http://schemas.microsoft.com/office/drawing/2014/main" id="{564E65C4-046E-4A99-819A-21123C1E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52006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ailure-body">
            <a:extLst xmlns:a="http://schemas.openxmlformats.org/drawingml/2006/main">
              <a:ext uri="{FF2B5EF4-FFF2-40B4-BE49-F238E27FC236}">
                <a16:creationId xmlns:a16="http://schemas.microsoft.com/office/drawing/2014/main" id="{AB313AD6-12AF-4E2B-A611-E8E2A037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4552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승인 실패·취소·금액 불일치</a:t>
            </a:r>
          </a:p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→ 티켓을 발급하지 않음</a:t>
            </a:r>
          </a:p>
          <a:p xmlns:a="http://schemas.openxmlformats.org/drawingml/2006/main">
            <a:pPr algn="l">
              <a:def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→ 결과와 재시도 방법을 안내</a:t>
            </a:r>
          </a:p>
        </p:txBody>
      </p:sp>
      <p:sp>
        <p:nvSpPr>
          <p:cNvPr id="12" name="policy-divider">
            <a:extLst xmlns:a="http://schemas.openxmlformats.org/drawingml/2006/main">
              <a:ext uri="{FF2B5EF4-FFF2-40B4-BE49-F238E27FC236}">
                <a16:creationId xmlns:a16="http://schemas.microsoft.com/office/drawing/2014/main" id="{31E24B1E-7BB6-432B-8564-7C7A7C67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olicy-heading">
            <a:extLst xmlns:a="http://schemas.openxmlformats.org/drawingml/2006/main">
              <a:ext uri="{FF2B5EF4-FFF2-40B4-BE49-F238E27FC236}">
                <a16:creationId xmlns:a16="http://schemas.microsoft.com/office/drawing/2014/main" id="{CE2F79A1-7798-46A3-A6FE-83025D6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유료 전 확정할 정책</a:t>
            </a:r>
          </a:p>
        </p:txBody>
      </p:sp>
      <p:sp>
        <p:nvSpPr>
          <p:cNvPr id="14" name="policy-period">
            <a:extLst xmlns:a="http://schemas.openxmlformats.org/drawingml/2006/main">
              <a:ext uri="{FF2B5EF4-FFF2-40B4-BE49-F238E27FC236}">
                <a16:creationId xmlns:a16="http://schemas.microsoft.com/office/drawing/2014/main" id="{2CF7F331-D3CB-4DA3-A35F-1AD94690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티켓 제공 기간과 만료 처리</a:t>
            </a:r>
          </a:p>
        </p:txBody>
      </p:sp>
      <p:sp>
        <p:nvSpPr>
          <p:cNvPr id="15" name="policy-refund">
            <a:extLst xmlns:a="http://schemas.openxmlformats.org/drawingml/2006/main">
              <a:ext uri="{FF2B5EF4-FFF2-40B4-BE49-F238E27FC236}">
                <a16:creationId xmlns:a16="http://schemas.microsoft.com/office/drawing/2014/main" id="{100AB84F-3C37-4FB7-88A6-21E1A318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054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청약철회·사용 후 취소·부분 환불</a:t>
            </a:r>
          </a:p>
        </p:txBody>
      </p:sp>
      <p:sp>
        <p:nvSpPr>
          <p:cNvPr id="16" name="policy-note">
            <a:extLst xmlns:a="http://schemas.openxmlformats.org/drawingml/2006/main">
              <a:ext uri="{FF2B5EF4-FFF2-40B4-BE49-F238E27FC236}">
                <a16:creationId xmlns:a16="http://schemas.microsoft.com/office/drawing/2014/main" id="{30E45C1C-06D6-48E4-AB8F-5750ABF1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두 항목은 현재 미확정입니다. 확정 전에는 유료 판매 조건으로 안내하지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48943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6">
            <a:extLst xmlns:a="http://schemas.openxmlformats.org/drawingml/2006/main">
              <a:ext uri="{FF2B5EF4-FFF2-40B4-BE49-F238E27FC236}">
                <a16:creationId xmlns:a16="http://schemas.microsoft.com/office/drawing/2014/main" id="{1D10AAD5-6E54-4802-9F51-341A31CA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실결제 연동 후 실제 화면 캡처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A11817E-082C-4B7B-AD81-D4BFD417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정식 심사 자료로 바꾸는 순서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A0099DF6-00FF-4F27-B7DE-8C46148D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D2B00B36-6D27-4BE8-A7A3-DE8A6A25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애프터 · 토스페이먼츠 사전 문의 자료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79166291-C462-49C4-B3BD-3BACD40B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198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capture-number-01">
            <a:extLst xmlns:a="http://schemas.openxmlformats.org/drawingml/2006/main">
              <a:ext uri="{FF2B5EF4-FFF2-40B4-BE49-F238E27FC236}">
                <a16:creationId xmlns:a16="http://schemas.microsoft.com/office/drawing/2014/main" id="{2CD2A42E-14F2-4471-AB2E-8CEC3556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capture-title-01">
            <a:extLst xmlns:a="http://schemas.openxmlformats.org/drawingml/2006/main">
              <a:ext uri="{FF2B5EF4-FFF2-40B4-BE49-F238E27FC236}">
                <a16:creationId xmlns:a16="http://schemas.microsoft.com/office/drawing/2014/main" id="{547741BC-2497-445E-9423-D7A9324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95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상품·가격</a:t>
            </a:r>
          </a:p>
        </p:txBody>
      </p:sp>
      <p:sp>
        <p:nvSpPr>
          <p:cNvPr id="8" name="capture-desc-01">
            <a:extLst xmlns:a="http://schemas.openxmlformats.org/drawingml/2006/main">
              <a:ext uri="{FF2B5EF4-FFF2-40B4-BE49-F238E27FC236}">
                <a16:creationId xmlns:a16="http://schemas.microsoft.com/office/drawing/2014/main" id="{3378DC2D-B98C-41A0-A001-CA86C62F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95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로그인 후 티켓 종류와 수량 선택</a:t>
            </a:r>
          </a:p>
        </p:txBody>
      </p:sp>
      <p:sp>
        <p:nvSpPr>
          <p:cNvPr id="9" name="capture-rule-01">
            <a:extLst xmlns:a="http://schemas.openxmlformats.org/drawingml/2006/main">
              <a:ext uri="{FF2B5EF4-FFF2-40B4-BE49-F238E27FC236}">
                <a16:creationId xmlns:a16="http://schemas.microsoft.com/office/drawing/2014/main" id="{6B4AF52B-7DFF-4E78-B48D-32CED137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pture-number-02">
            <a:extLst xmlns:a="http://schemas.openxmlformats.org/drawingml/2006/main">
              <a:ext uri="{FF2B5EF4-FFF2-40B4-BE49-F238E27FC236}">
                <a16:creationId xmlns:a16="http://schemas.microsoft.com/office/drawing/2014/main" id="{7939041A-7B5D-41F3-8AC2-29818EC6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capture-title-02">
            <a:extLst xmlns:a="http://schemas.openxmlformats.org/drawingml/2006/main">
              <a:ext uri="{FF2B5EF4-FFF2-40B4-BE49-F238E27FC236}">
                <a16:creationId xmlns:a16="http://schemas.microsoft.com/office/drawing/2014/main" id="{F40B39F1-4EB1-4F58-B8A0-AC72AF9E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57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판매 조건</a:t>
            </a:r>
          </a:p>
        </p:txBody>
      </p:sp>
      <p:sp>
        <p:nvSpPr>
          <p:cNvPr id="12" name="capture-desc-02">
            <a:extLst xmlns:a="http://schemas.openxmlformats.org/drawingml/2006/main">
              <a:ext uri="{FF2B5EF4-FFF2-40B4-BE49-F238E27FC236}">
                <a16:creationId xmlns:a16="http://schemas.microsoft.com/office/drawing/2014/main" id="{46F4633E-2006-47B5-B06E-F772A3AE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최종 가격, 제공 기간, 취소·환불 안내 확인</a:t>
            </a:r>
          </a:p>
        </p:txBody>
      </p:sp>
      <p:sp>
        <p:nvSpPr>
          <p:cNvPr id="13" name="capture-rule-02">
            <a:extLst xmlns:a="http://schemas.openxmlformats.org/drawingml/2006/main">
              <a:ext uri="{FF2B5EF4-FFF2-40B4-BE49-F238E27FC236}">
                <a16:creationId xmlns:a16="http://schemas.microsoft.com/office/drawing/2014/main" id="{F27DC3F7-F4A2-4C78-847E-398FA3FD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pture-number-03">
            <a:extLst xmlns:a="http://schemas.openxmlformats.org/drawingml/2006/main">
              <a:ext uri="{FF2B5EF4-FFF2-40B4-BE49-F238E27FC236}">
                <a16:creationId xmlns:a16="http://schemas.microsoft.com/office/drawing/2014/main" id="{87C6D49A-692F-4955-9953-E942B7AF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capture-title-03">
            <a:extLst xmlns:a="http://schemas.openxmlformats.org/drawingml/2006/main">
              <a:ext uri="{FF2B5EF4-FFF2-40B4-BE49-F238E27FC236}">
                <a16:creationId xmlns:a16="http://schemas.microsoft.com/office/drawing/2014/main" id="{93C5F9F1-1783-4230-9736-9BD14F6B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19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결제</a:t>
            </a:r>
          </a:p>
        </p:txBody>
      </p:sp>
      <p:sp>
        <p:nvSpPr>
          <p:cNvPr id="16" name="capture-desc-03">
            <a:extLst xmlns:a="http://schemas.openxmlformats.org/drawingml/2006/main">
              <a:ext uri="{FF2B5EF4-FFF2-40B4-BE49-F238E27FC236}">
                <a16:creationId xmlns:a16="http://schemas.microsoft.com/office/drawing/2014/main" id="{96C22360-0628-4510-A65B-99FEAAE6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토스 결제창에서 결제수단을 선택하고 결제</a:t>
            </a:r>
          </a:p>
        </p:txBody>
      </p:sp>
      <p:sp>
        <p:nvSpPr>
          <p:cNvPr id="17" name="capture-rule-03">
            <a:extLst xmlns:a="http://schemas.openxmlformats.org/drawingml/2006/main">
              <a:ext uri="{FF2B5EF4-FFF2-40B4-BE49-F238E27FC236}">
                <a16:creationId xmlns:a16="http://schemas.microsoft.com/office/drawing/2014/main" id="{B478FB1D-02B9-4103-B14A-8BE9B63E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pture-number-04">
            <a:extLst xmlns:a="http://schemas.openxmlformats.org/drawingml/2006/main">
              <a:ext uri="{FF2B5EF4-FFF2-40B4-BE49-F238E27FC236}">
                <a16:creationId xmlns:a16="http://schemas.microsoft.com/office/drawing/2014/main" id="{14139D80-0195-46B7-8C43-89B5F6A5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9" name="capture-title-04">
            <a:extLst xmlns:a="http://schemas.openxmlformats.org/drawingml/2006/main">
              <a:ext uri="{FF2B5EF4-FFF2-40B4-BE49-F238E27FC236}">
                <a16:creationId xmlns:a16="http://schemas.microsoft.com/office/drawing/2014/main" id="{13B1F7DA-E5A0-4BE0-A4AD-A398F9FD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81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결제 완료</a:t>
            </a:r>
          </a:p>
        </p:txBody>
      </p:sp>
      <p:sp>
        <p:nvSpPr>
          <p:cNvPr id="20" name="capture-desc-04">
            <a:extLst xmlns:a="http://schemas.openxmlformats.org/drawingml/2006/main">
              <a:ext uri="{FF2B5EF4-FFF2-40B4-BE49-F238E27FC236}">
                <a16:creationId xmlns:a16="http://schemas.microsoft.com/office/drawing/2014/main" id="{40DAF1A3-190A-4AE9-9108-8044DCDC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완료 결과와 주문 금액·상태 확인</a:t>
            </a:r>
          </a:p>
        </p:txBody>
      </p:sp>
      <p:sp>
        <p:nvSpPr>
          <p:cNvPr id="21" name="capture-rule-04">
            <a:extLst xmlns:a="http://schemas.openxmlformats.org/drawingml/2006/main">
              <a:ext uri="{FF2B5EF4-FFF2-40B4-BE49-F238E27FC236}">
                <a16:creationId xmlns:a16="http://schemas.microsoft.com/office/drawing/2014/main" id="{23B069BB-D80C-4302-8A19-F0389ED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pture-number-05">
            <a:extLst xmlns:a="http://schemas.openxmlformats.org/drawingml/2006/main">
              <a:ext uri="{FF2B5EF4-FFF2-40B4-BE49-F238E27FC236}">
                <a16:creationId xmlns:a16="http://schemas.microsoft.com/office/drawing/2014/main" id="{312FDD3F-7967-45EA-9C90-39232421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F765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3" name="capture-title-05">
            <a:extLst xmlns:a="http://schemas.openxmlformats.org/drawingml/2006/main">
              <a:ext uri="{FF2B5EF4-FFF2-40B4-BE49-F238E27FC236}">
                <a16:creationId xmlns:a16="http://schemas.microsoft.com/office/drawing/2014/main" id="{A8B33460-FFE4-41B6-97E3-E03EB685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434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서비스 지급</a:t>
            </a:r>
          </a:p>
        </p:txBody>
      </p:sp>
      <p:sp>
        <p:nvSpPr>
          <p:cNvPr id="24" name="capture-desc-05">
            <a:extLst xmlns:a="http://schemas.openxmlformats.org/drawingml/2006/main">
              <a:ext uri="{FF2B5EF4-FFF2-40B4-BE49-F238E27FC236}">
                <a16:creationId xmlns:a16="http://schemas.microsoft.com/office/drawing/2014/main" id="{9C5B3772-9FE6-4D6E-B902-2665A52D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43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56A70"/>
                </a:solidFill>
                <a:latin typeface="Apple SD Gothic Neo"/>
                <a:ea typeface="Apple SD Gothic Neo"/>
                <a:cs typeface="Apple SD Gothic Neo"/>
              </a:rPr>
              <a:t>티켓 잔액과 사용 가능 상태 확인</a:t>
            </a:r>
          </a:p>
        </p:txBody>
      </p:sp>
      <p:sp>
        <p:nvSpPr>
          <p:cNvPr id="25" name="capture-rule-05">
            <a:extLst xmlns:a="http://schemas.openxmlformats.org/drawingml/2006/main">
              <a:ext uri="{FF2B5EF4-FFF2-40B4-BE49-F238E27FC236}">
                <a16:creationId xmlns:a16="http://schemas.microsoft.com/office/drawing/2014/main" id="{9830CCB4-3297-47E3-9666-B8825917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inal-status-bg">
            <a:extLst xmlns:a="http://schemas.openxmlformats.org/drawingml/2006/main">
              <a:ext uri="{FF2B5EF4-FFF2-40B4-BE49-F238E27FC236}">
                <a16:creationId xmlns:a16="http://schemas.microsoft.com/office/drawing/2014/main" id="{86F55A5F-407E-4B5F-BFB6-F6A56176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inal-status">
            <a:extLst xmlns:a="http://schemas.openxmlformats.org/drawingml/2006/main">
              <a:ext uri="{FF2B5EF4-FFF2-40B4-BE49-F238E27FC236}">
                <a16:creationId xmlns:a16="http://schemas.microsoft.com/office/drawing/2014/main" id="{325CDAF8-BDEA-40F3-9A3D-60DE1992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2A34"/>
                </a:solidFill>
                <a:latin typeface="Apple SD Gothic Neo"/>
                <a:ea typeface="Apple SD Gothic Neo"/>
                <a:cs typeface="Apple SD Gothic Neo"/>
              </a:rPr>
              <a:t>현재 자료는 사전 문의용입니다. 카드사 정식 심사에는 실제 결제 화면을 캡처한 새 PPT가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427714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2026-10-09T12:56:56.1830000Z</dcterms:created>
  <dcterms:modified xsi:type="dcterms:W3CDTF">2026-10-09T12:56:56.1830000Z</dcterms:modified>
</coreProperties>
</file>